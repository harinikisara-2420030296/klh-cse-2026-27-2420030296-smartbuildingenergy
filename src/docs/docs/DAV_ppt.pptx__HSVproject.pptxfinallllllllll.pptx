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86" r:id="rId3"/>
    <p:sldId id="260" r:id="rId4"/>
    <p:sldId id="321" r:id="rId5"/>
    <p:sldId id="278" r:id="rId6"/>
    <p:sldId id="326" r:id="rId7"/>
    <p:sldId id="335" r:id="rId8"/>
    <p:sldId id="332" r:id="rId9"/>
    <p:sldId id="322" r:id="rId10"/>
    <p:sldId id="323" r:id="rId11"/>
    <p:sldId id="333" r:id="rId12"/>
    <p:sldId id="324" r:id="rId13"/>
    <p:sldId id="277" r:id="rId14"/>
    <p:sldId id="330" r:id="rId15"/>
    <p:sldId id="329" r:id="rId16"/>
    <p:sldId id="327" r:id="rId1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77"/>
      </p:cViewPr>
      <p:guideLst>
        <p:guide orient="horz" pos="216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://www.klh.edu.in/" TargetMode="Externa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hyperlink" Target="https://link.springer.com/article/10.1007/s42452-026-08676-0?utm_source=chatgpt.com" TargetMode="External"/><Relationship Id="rId6" Type="http://schemas.openxmlformats.org/officeDocument/2006/relationships/image" Target="../media/image1.jpeg"/><Relationship Id="rId5" Type="http://schemas.openxmlformats.org/officeDocument/2006/relationships/hyperlink" Target="https://link.springer.com/article/10.1007/s10462-023-10660-" TargetMode="External"/><Relationship Id="rId4" Type="http://schemas.openxmlformats.org/officeDocument/2006/relationships/hyperlink" Target="https://ieeexplore.ieee.org/document/8623540?utm_source=chatgpt.com" TargetMode="External"/><Relationship Id="rId3" Type="http://schemas.openxmlformats.org/officeDocument/2006/relationships/hyperlink" Target="https://ieeexplore.ieee.org/document/10042664/" TargetMode="External"/><Relationship Id="rId2" Type="http://schemas.openxmlformats.org/officeDocument/2006/relationships/hyperlink" Target="https://link.springer.com/article/10.1007/s10489-024-05451-9?utm_source=chatgpt.com" TargetMode="External"/><Relationship Id="rId1" Type="http://schemas.openxmlformats.org/officeDocument/2006/relationships/hyperlink" Target="https://link.springer.com/article/10.1186/s42162-025-00483-y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  </a:t>
            </a:r>
            <a:r>
              <a:rPr 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r>
              <a:rPr lang="en-IN" alt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Energy Consumption Analytics for Smart Buildings</a:t>
            </a:r>
            <a:endParaRPr lang="en-US" altLang="en-US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295157"/>
            <a:ext cx="8458200" cy="2895600"/>
          </a:xfrm>
        </p:spPr>
        <p:txBody>
          <a:bodyPr>
            <a:normAutofit fontScale="25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5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endParaRPr lang="en-US" sz="5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No:</a:t>
            </a:r>
            <a:endParaRPr lang="en-US" sz="38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IN" altLang="en-US" sz="5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altLang="en-US" sz="5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IN" altLang="en-US" sz="5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2420030447-G.SHAILAJA</a:t>
            </a:r>
            <a:endParaRPr lang="en-IN" altLang="en-US" sz="5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IN" altLang="en-US" sz="5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2420030296-KISARA HARINI</a:t>
            </a:r>
            <a:endParaRPr lang="en-IN" altLang="en-US" sz="5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IN" altLang="en-US" sz="5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2420030297-V.VARSHA</a:t>
            </a:r>
            <a:endParaRPr lang="en-IN" altLang="en-US" sz="5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5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56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Esteemed guidance of </a:t>
            </a:r>
            <a:endParaRPr lang="en-GB" sz="5600" b="1" i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56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56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</a:t>
            </a:r>
            <a:r>
              <a:rPr lang="en-US" sz="56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Dr.Swapnika</a:t>
            </a:r>
            <a:endParaRPr lang="en-US" sz="56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5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5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  <a:endParaRPr lang="en-US" sz="5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sz="4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8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endParaRPr lang="en-US" sz="24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KL University - KL University added a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90" y="4343400"/>
            <a:ext cx="1125855" cy="11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76105" y="53340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716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 of the presentation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1"/>
            <a:ext cx="8839200" cy="5105399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+mj-lt"/>
                <a:cs typeface="+mj-lt"/>
              </a:rPr>
              <a:t>Problem Statement</a:t>
            </a:r>
            <a:endParaRPr lang="en-US" dirty="0">
              <a:latin typeface="+mj-lt"/>
              <a:cs typeface="+mj-lt"/>
            </a:endParaRPr>
          </a:p>
          <a:p>
            <a:r>
              <a:rPr lang="en-US" dirty="0">
                <a:latin typeface="+mj-lt"/>
                <a:cs typeface="+mj-lt"/>
              </a:rPr>
              <a:t>Abstract</a:t>
            </a:r>
            <a:endParaRPr lang="en-US" dirty="0">
              <a:latin typeface="+mj-lt"/>
              <a:cs typeface="+mj-lt"/>
            </a:endParaRPr>
          </a:p>
          <a:p>
            <a:r>
              <a:rPr lang="en-US" dirty="0">
                <a:latin typeface="+mj-lt"/>
                <a:cs typeface="+mj-lt"/>
              </a:rPr>
              <a:t>Project flow diagram</a:t>
            </a:r>
            <a:endParaRPr lang="en-US" dirty="0">
              <a:latin typeface="+mj-lt"/>
              <a:cs typeface="+mj-lt"/>
            </a:endParaRPr>
          </a:p>
          <a:p>
            <a:r>
              <a:rPr lang="en-US" dirty="0">
                <a:latin typeface="+mj-lt"/>
                <a:cs typeface="+mj-lt"/>
              </a:rPr>
              <a:t>Literature Survey</a:t>
            </a:r>
            <a:endParaRPr lang="en-US" dirty="0">
              <a:latin typeface="+mj-lt"/>
              <a:cs typeface="+mj-lt"/>
            </a:endParaRPr>
          </a:p>
          <a:p>
            <a:r>
              <a:rPr lang="en-US" dirty="0">
                <a:latin typeface="+mj-lt"/>
                <a:cs typeface="+mj-lt"/>
              </a:rPr>
              <a:t>Objectives with justification</a:t>
            </a:r>
            <a:endParaRPr lang="en-US" dirty="0">
              <a:latin typeface="+mj-lt"/>
              <a:cs typeface="+mj-lt"/>
            </a:endParaRPr>
          </a:p>
          <a:p>
            <a:r>
              <a:rPr lang="en-US" dirty="0">
                <a:latin typeface="+mj-lt"/>
                <a:cs typeface="+mj-lt"/>
              </a:rPr>
              <a:t>Research gaps</a:t>
            </a:r>
            <a:endParaRPr lang="en-US" dirty="0">
              <a:latin typeface="+mj-lt"/>
              <a:cs typeface="+mj-lt"/>
            </a:endParaRPr>
          </a:p>
          <a:p>
            <a:r>
              <a:rPr lang="en-US" dirty="0">
                <a:latin typeface="+mj-lt"/>
                <a:cs typeface="+mj-lt"/>
              </a:rPr>
              <a:t>Novelty/Innovation/</a:t>
            </a:r>
            <a:r>
              <a:rPr lang="en-US" dirty="0" err="1">
                <a:latin typeface="+mj-lt"/>
                <a:cs typeface="+mj-lt"/>
              </a:rPr>
              <a:t>Feseability</a:t>
            </a:r>
            <a:endParaRPr lang="en-US" dirty="0">
              <a:latin typeface="+mj-lt"/>
              <a:cs typeface="+mj-lt"/>
            </a:endParaRPr>
          </a:p>
          <a:p>
            <a:r>
              <a:rPr lang="en-US" dirty="0">
                <a:latin typeface="+mj-lt"/>
                <a:cs typeface="+mj-lt"/>
              </a:rPr>
              <a:t>Tools</a:t>
            </a:r>
            <a:endParaRPr lang="en-US" dirty="0">
              <a:latin typeface="+mj-lt"/>
              <a:cs typeface="+mj-lt"/>
            </a:endParaRPr>
          </a:p>
          <a:p>
            <a:r>
              <a:rPr lang="en-US" dirty="0">
                <a:latin typeface="+mj-lt"/>
                <a:cs typeface="+mj-lt"/>
              </a:rPr>
              <a:t>Project plan</a:t>
            </a:r>
            <a:endParaRPr lang="en-US" dirty="0">
              <a:latin typeface="+mj-lt"/>
              <a:cs typeface="+mj-lt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KL University - KL University added a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1248202" cy="125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28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Smart buildings generate large amounts of energy-related data from appliances, sensors, environmental conditions, and building systems.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Traditional energy monitoring mainly focuses on historical consumption and does not provide sufficient intelligence about future consumption patterns.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Analyze historical energy consumption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Identify important consumption patterns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Predict future energy consumption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Identify factors influencing energy usage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Compare different ML models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Provide visual and actionable energy insights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The main problem is that buildings generate a huge amount of energy data, but raw data alone does not tell us what will happen in the future.</a:t>
            </a:r>
            <a:endParaRPr lang="en-IN" altLang="en-US" sz="2000" dirty="0"/>
          </a:p>
          <a:p>
            <a:pPr marL="0" indent="0">
              <a:buNone/>
            </a:pPr>
            <a:r>
              <a:rPr lang="en-US" altLang="en-US" sz="2000" dirty="0"/>
              <a:t>Our project solves these problems by applying machine learning algorithms to historical energy data and generating meaningful insights instead of just displaying raw numbers.</a:t>
            </a:r>
            <a:br>
              <a:rPr lang="en-US" altLang="en-US" sz="2000" dirty="0"/>
            </a:br>
            <a:endParaRPr lang="en-US" altLang="en-US" sz="2000" dirty="0"/>
          </a:p>
        </p:txBody>
      </p:sp>
      <p:pic>
        <p:nvPicPr>
          <p:cNvPr id="6" name="Picture 5" descr="KL University - KL University added a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3775" cy="997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28917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990600"/>
            <a:ext cx="8487410" cy="50526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/>
              <a:t>The increasing demand for energy and rapid development of smart buildings have made efficient energy management an important research area.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This project proposes an Intelligent Energy Consumption Analytics framework by integrating: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Data Preprocessing → EDA → Feature Engineering → Machine Learning → Model Evaluation → Visualization</a:t>
            </a:r>
            <a:r>
              <a:rPr lang="en-IN" altLang="en-US" sz="2000" dirty="0"/>
              <a:t>.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Three benchmark datasets are considered: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Energy Efficiency Dataset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Appliances Energy Prediction Dataset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ASHRAE Great Energy Predictor III Dataset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The project applies machine learning models including: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Linear Regression</a:t>
            </a:r>
            <a:r>
              <a:rPr lang="en-IN" altLang="en-US" sz="2000" dirty="0"/>
              <a:t>,</a:t>
            </a:r>
            <a:r>
              <a:rPr lang="en-US" altLang="en-US" sz="2000" dirty="0"/>
              <a:t>Decision Tree</a:t>
            </a:r>
            <a:r>
              <a:rPr lang="en-IN" altLang="en-US" sz="2000" dirty="0"/>
              <a:t>,</a:t>
            </a:r>
            <a:r>
              <a:rPr lang="en-US" altLang="en-US" sz="2000" dirty="0"/>
              <a:t>Random Forest</a:t>
            </a:r>
            <a:r>
              <a:rPr lang="en-IN" altLang="en-US" sz="2000" dirty="0"/>
              <a:t>,</a:t>
            </a:r>
            <a:r>
              <a:rPr lang="en-US" altLang="en-US" sz="2000" dirty="0"/>
              <a:t>XGBoost</a:t>
            </a:r>
            <a:r>
              <a:rPr lang="en-IN" altLang="en-US" sz="2000" dirty="0"/>
              <a:t>,</a:t>
            </a:r>
            <a:r>
              <a:rPr lang="en-US" altLang="en-US" sz="2000" dirty="0"/>
              <a:t>CatBoost</a:t>
            </a:r>
            <a:endParaRPr lang="en-US" altLang="en-US" sz="2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2000" dirty="0"/>
              <a:t>The models are evaluated using MAE, MSE, RMSE and R² Score to identify the most suitable model for energy consumption prediction.</a:t>
            </a:r>
            <a:endParaRPr lang="en-US" altLang="en-US" sz="2000" dirty="0"/>
          </a:p>
        </p:txBody>
      </p:sp>
      <p:pic>
        <p:nvPicPr>
          <p:cNvPr id="6" name="Picture 5" descr="KL University - KL University added a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81075" cy="984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517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KL University - KL University added a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900430" cy="90551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_- visual selection 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053465"/>
            <a:ext cx="9155430" cy="6055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285115" y="76200"/>
            <a:ext cx="9576435" cy="7057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530" y="-317"/>
            <a:ext cx="8229600" cy="1143000"/>
          </a:xfrm>
        </p:spPr>
        <p:txBody>
          <a:bodyPr/>
          <a:lstStyle/>
          <a:p>
            <a:r>
              <a:rPr lang="en-I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  <a:endParaRPr lang="en-IN" alt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0025" y="1219200"/>
            <a:ext cx="8943975" cy="46564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altLang="en-US" sz="2000" dirty="0"/>
              <a:t>1. </a:t>
            </a:r>
            <a:r>
              <a:rPr lang="en-IN" altLang="en-US" sz="2000" dirty="0">
                <a:hlinkClick r:id="rId1" action="ppaction://hlinkfile"/>
              </a:rPr>
              <a:t>https://link.springer.com/article/10.1186/s42162-025-00483-y?utm_source=chatgpt.com</a:t>
            </a:r>
            <a:endParaRPr lang="en-IN" altLang="en-US" sz="2000" dirty="0">
              <a:hlinkClick r:id="rId1" action="ppaction://hlinkfile"/>
            </a:endParaRPr>
          </a:p>
          <a:p>
            <a:pPr marL="0" indent="0">
              <a:buNone/>
            </a:pPr>
            <a:endParaRPr lang="en-IN" altLang="en-US" sz="2000" dirty="0">
              <a:hlinkClick r:id="rId1" action="ppaction://hlinkfile"/>
            </a:endParaRPr>
          </a:p>
          <a:p>
            <a:pPr marL="0" indent="0">
              <a:buNone/>
            </a:pPr>
            <a:endParaRPr lang="en-IN" altLang="en-US" sz="2000" dirty="0"/>
          </a:p>
          <a:p>
            <a:pPr marL="0" indent="0">
              <a:buNone/>
            </a:pPr>
            <a:r>
              <a:rPr lang="en-IN" altLang="en-US" sz="2000" dirty="0">
                <a:hlinkClick r:id="rId2" action="ppaction://hlinkfile"/>
              </a:rPr>
              <a:t>3. </a:t>
            </a:r>
            <a:r>
              <a:rPr lang="en-US" altLang="en-US" sz="2000" dirty="0">
                <a:hlinkClick r:id="rId2" action="ppaction://hlinkfile"/>
              </a:rPr>
              <a:t>https://link.springer.com/article/10.1007/s10489-024-05451-9?utm_source=chatgpt.com</a:t>
            </a:r>
            <a:endParaRPr lang="en-US" altLang="en-US" sz="2000" dirty="0"/>
          </a:p>
          <a:p>
            <a:pPr marL="0" indent="0">
              <a:buNone/>
            </a:pPr>
            <a:r>
              <a:rPr lang="en-IN" altLang="en-US" sz="2000" dirty="0">
                <a:hlinkClick r:id="rId3" action="ppaction://hlinkfile"/>
              </a:rPr>
              <a:t>4 . </a:t>
            </a:r>
            <a:r>
              <a:rPr lang="en-US" altLang="en-US" sz="2000" dirty="0">
                <a:hlinkClick r:id="rId3" action="ppaction://hlinkfile"/>
              </a:rPr>
              <a:t>https://link.springer.com/article/10.1007/s44243-024-00032-3?utm_source=chatgpt.com</a:t>
            </a:r>
            <a:endParaRPr lang="en-US" altLang="en-US" sz="2000" dirty="0">
              <a:hlinkClick r:id="rId3" action="ppaction://hlinkfile"/>
            </a:endParaRPr>
          </a:p>
          <a:p>
            <a:pPr marL="0" indent="0">
              <a:buNone/>
            </a:pPr>
            <a:r>
              <a:rPr lang="en-IN" altLang="en-US" sz="2000" dirty="0">
                <a:hlinkClick r:id="rId3" action="ppaction://hlinkfile"/>
              </a:rPr>
              <a:t>5. </a:t>
            </a:r>
            <a:r>
              <a:rPr lang="en-US" altLang="en-US" sz="2000" dirty="0">
                <a:hlinkClick r:id="rId3" action="ppaction://hlinkfile"/>
              </a:rPr>
              <a:t>https://ieeexplore.ieee.org/document/10949956?utm_source=chatgpt.com</a:t>
            </a:r>
            <a:endParaRPr lang="en-US" altLang="en-US" sz="2000" dirty="0">
              <a:hlinkClick r:id="rId3" action="ppaction://hlinkfile"/>
            </a:endParaRPr>
          </a:p>
          <a:p>
            <a:pPr marL="0" indent="0">
              <a:buNone/>
            </a:pPr>
            <a:r>
              <a:rPr lang="en-IN" altLang="en-US" sz="2000" dirty="0">
                <a:hlinkClick r:id="rId3" action="ppaction://hlinkfile"/>
              </a:rPr>
              <a:t>6. </a:t>
            </a:r>
            <a:r>
              <a:rPr lang="en-US" altLang="en-US" sz="2000" dirty="0">
                <a:hlinkClick r:id="rId3" action="ppaction://hlinkfile"/>
              </a:rPr>
              <a:t>https://ieeexplore.ieee.org/document/10042664/</a:t>
            </a:r>
            <a:endParaRPr lang="en-US" altLang="en-US" sz="2000" dirty="0">
              <a:hlinkClick r:id="rId3" action="ppaction://hlinkfile"/>
            </a:endParaRPr>
          </a:p>
          <a:p>
            <a:pPr marL="0" indent="0">
              <a:buNone/>
            </a:pPr>
            <a:r>
              <a:rPr lang="en-IN" altLang="en-US" sz="2000" dirty="0"/>
              <a:t>7. </a:t>
            </a:r>
            <a:r>
              <a:rPr lang="en-US" altLang="en-US" sz="2000" dirty="0">
                <a:hlinkClick r:id="rId4" action="ppaction://hlinkfile"/>
              </a:rPr>
              <a:t>https://ieeexplore.ieee.org/document/8623540?utm_source=chatgpt.com</a:t>
            </a:r>
            <a:endParaRPr lang="en-US" altLang="en-US" sz="2000" dirty="0">
              <a:hlinkClick r:id="rId4" action="ppaction://hlinkfile"/>
            </a:endParaRPr>
          </a:p>
          <a:p>
            <a:pPr marL="0" indent="0">
              <a:buNone/>
            </a:pPr>
            <a:r>
              <a:rPr lang="en-IN" altLang="en-US" sz="2000" dirty="0"/>
              <a:t>8. </a:t>
            </a:r>
            <a:r>
              <a:rPr lang="en-US" altLang="en-US" sz="2000" dirty="0">
                <a:hlinkClick r:id="rId5" action="ppaction://hlinkfile"/>
              </a:rPr>
              <a:t>https://link.springer.com/article/10.1007/s10462-023-10660-</a:t>
            </a:r>
            <a:r>
              <a:rPr lang="en-IN" altLang="en-US" sz="2000" dirty="0">
                <a:hlinkClick r:id="rId5" action="ppaction://hlinkfile"/>
              </a:rPr>
              <a:t> 	</a:t>
            </a:r>
            <a:r>
              <a:rPr lang="en-US" altLang="en-US" sz="2000" dirty="0">
                <a:hlinkClick r:id="rId5" action="ppaction://hlinkfile"/>
              </a:rPr>
              <a:t>8?utm_source=chatgpt.com</a:t>
            </a:r>
            <a:endParaRPr lang="en-US" altLang="en-US" sz="2000" dirty="0">
              <a:hlinkClick r:id="rId5" action="ppaction://hlinkfile"/>
            </a:endParaRPr>
          </a:p>
        </p:txBody>
      </p:sp>
      <p:pic>
        <p:nvPicPr>
          <p:cNvPr id="6" name="Picture 5" descr="KL University - KL University added a ...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0"/>
            <a:ext cx="981075" cy="9848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228600" y="1905000"/>
            <a:ext cx="797052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IN" sz="1600">
                <a:hlinkClick r:id="rId7"/>
              </a:rPr>
              <a:t>2.  </a:t>
            </a:r>
            <a:r>
              <a:rPr sz="1600">
                <a:hlinkClick r:id="rId7"/>
              </a:rPr>
              <a:t>Intelligent system for fine building energy consumption management through optimized and integrated machine learning models | Discover Applied Sciences | Springer Nature Link</a:t>
            </a:r>
            <a:endParaRPr sz="1600">
              <a:hlinkClick r:id="rId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" y="1447800"/>
            <a:ext cx="9518015" cy="4842510"/>
          </a:xfrm>
        </p:spPr>
        <p:txBody>
          <a:bodyPr>
            <a:noAutofit/>
          </a:bodyPr>
          <a:lstStyle/>
          <a:p>
            <a:pPr>
              <a:lnSpc>
                <a:spcPct val="60000"/>
              </a:lnSpc>
            </a:pPr>
            <a:r>
              <a:rPr lang="en-US" altLang="en-US" sz="1800" b="1" dirty="0"/>
              <a:t>1. </a:t>
            </a:r>
            <a:r>
              <a:rPr lang="en-IN" altLang="en-US" sz="1800" b="1" dirty="0"/>
              <a:t>Enhance </a:t>
            </a:r>
            <a:r>
              <a:rPr lang="en-US" altLang="en-US" sz="1800" b="1" dirty="0"/>
              <a:t>an End-to-End Energy Analytics Framework</a:t>
            </a:r>
            <a:endParaRPr lang="en-US" altLang="en-US" sz="1800" b="1" dirty="0"/>
          </a:p>
          <a:p>
            <a:pPr marL="0" indent="0">
              <a:lnSpc>
                <a:spcPct val="60000"/>
              </a:lnSpc>
              <a:buNone/>
            </a:pPr>
            <a:endParaRPr lang="en-US" altLang="en-US" sz="1800" dirty="0"/>
          </a:p>
          <a:p>
            <a:pPr>
              <a:lnSpc>
                <a:spcPct val="60000"/>
              </a:lnSpc>
            </a:pPr>
            <a:r>
              <a:rPr lang="en-US" altLang="en-US" sz="1800" dirty="0"/>
              <a:t>→ Integrate data ingestion, preprocessing, EDA, ML, database and visualization.</a:t>
            </a:r>
            <a:endParaRPr lang="en-US" altLang="en-US" sz="1800" dirty="0"/>
          </a:p>
          <a:p>
            <a:pPr>
              <a:lnSpc>
                <a:spcPct val="60000"/>
              </a:lnSpc>
            </a:pPr>
            <a:endParaRPr lang="en-US" altLang="en-US" sz="1800" b="1" dirty="0"/>
          </a:p>
          <a:p>
            <a:pPr>
              <a:lnSpc>
                <a:spcPct val="60000"/>
              </a:lnSpc>
            </a:pPr>
            <a:r>
              <a:rPr lang="en-US" altLang="en-US" sz="1800" b="1" dirty="0"/>
              <a:t>2. Analyze Building Energy Consumption</a:t>
            </a:r>
            <a:endParaRPr lang="en-US" altLang="en-US" sz="1800" b="1" dirty="0"/>
          </a:p>
          <a:p>
            <a:pPr>
              <a:lnSpc>
                <a:spcPct val="60000"/>
              </a:lnSpc>
            </a:pPr>
            <a:endParaRPr lang="en-US" altLang="en-US" sz="1800" dirty="0"/>
          </a:p>
          <a:p>
            <a:pPr>
              <a:lnSpc>
                <a:spcPct val="60000"/>
              </a:lnSpc>
            </a:pPr>
            <a:r>
              <a:rPr lang="en-US" altLang="en-US" sz="1800" dirty="0"/>
              <a:t>→ Identify consumption patterns based on factors such as temperature, humidity, time, </a:t>
            </a:r>
            <a:endParaRPr lang="en-US" altLang="en-US" sz="1800" dirty="0"/>
          </a:p>
          <a:p>
            <a:pPr marL="0" indent="457200">
              <a:lnSpc>
                <a:spcPct val="60000"/>
              </a:lnSpc>
              <a:buNone/>
            </a:pPr>
            <a:r>
              <a:rPr lang="en-US" altLang="en-US" sz="1800" dirty="0"/>
              <a:t>appliances and building conditions.</a:t>
            </a:r>
            <a:endParaRPr lang="en-US" altLang="en-US" sz="1800" dirty="0"/>
          </a:p>
          <a:p>
            <a:pPr>
              <a:lnSpc>
                <a:spcPct val="60000"/>
              </a:lnSpc>
            </a:pPr>
            <a:endParaRPr lang="en-US" altLang="en-US" sz="1800" dirty="0"/>
          </a:p>
          <a:p>
            <a:pPr>
              <a:lnSpc>
                <a:spcPct val="60000"/>
              </a:lnSpc>
            </a:pPr>
            <a:r>
              <a:rPr lang="en-US" altLang="en-US" sz="1800" b="1" dirty="0"/>
              <a:t>3. </a:t>
            </a:r>
            <a:r>
              <a:rPr lang="en-IN" altLang="en-US" sz="1800" b="1" dirty="0"/>
              <a:t>Enhance</a:t>
            </a:r>
            <a:r>
              <a:rPr lang="en-US" altLang="en-US" sz="1800" b="1" dirty="0"/>
              <a:t> Energy Prediction Models</a:t>
            </a:r>
            <a:endParaRPr lang="en-US" altLang="en-US" sz="1800" b="1" dirty="0"/>
          </a:p>
          <a:p>
            <a:pPr>
              <a:lnSpc>
                <a:spcPct val="60000"/>
              </a:lnSpc>
            </a:pPr>
            <a:endParaRPr lang="en-US" altLang="en-US" sz="1800" dirty="0"/>
          </a:p>
          <a:p>
            <a:pPr>
              <a:lnSpc>
                <a:spcPct val="60000"/>
              </a:lnSpc>
            </a:pPr>
            <a:r>
              <a:rPr lang="en-US" altLang="en-US" sz="1800" dirty="0"/>
              <a:t>→ Predict future energy consumption using Machine Learning algorithms.</a:t>
            </a:r>
            <a:endParaRPr lang="en-US" altLang="en-US" sz="1800" dirty="0"/>
          </a:p>
          <a:p>
            <a:pPr>
              <a:lnSpc>
                <a:spcPct val="60000"/>
              </a:lnSpc>
            </a:pPr>
            <a:endParaRPr lang="en-US" altLang="en-US" sz="1800" dirty="0"/>
          </a:p>
          <a:p>
            <a:pPr>
              <a:lnSpc>
                <a:spcPct val="60000"/>
              </a:lnSpc>
            </a:pPr>
            <a:r>
              <a:rPr lang="en-US" altLang="en-US" sz="1800" b="1" dirty="0"/>
              <a:t>4. Detect Abnormal Energy Consumption</a:t>
            </a:r>
            <a:endParaRPr lang="en-US" altLang="en-US" sz="1800" b="1" dirty="0"/>
          </a:p>
          <a:p>
            <a:pPr>
              <a:lnSpc>
                <a:spcPct val="60000"/>
              </a:lnSpc>
            </a:pPr>
            <a:endParaRPr lang="en-US" altLang="en-US" sz="1800" dirty="0"/>
          </a:p>
          <a:p>
            <a:pPr>
              <a:lnSpc>
                <a:spcPct val="60000"/>
              </a:lnSpc>
            </a:pPr>
            <a:r>
              <a:rPr lang="en-US" altLang="en-US" sz="1800" dirty="0"/>
              <a:t>→ Identify unusual or unexpected energy usage patterns.</a:t>
            </a:r>
            <a:endParaRPr lang="en-US" altLang="en-US" sz="1800" dirty="0"/>
          </a:p>
          <a:p>
            <a:pPr>
              <a:lnSpc>
                <a:spcPct val="60000"/>
              </a:lnSpc>
            </a:pPr>
            <a:endParaRPr lang="en-US" altLang="en-US" sz="1800" dirty="0"/>
          </a:p>
          <a:p>
            <a:pPr>
              <a:lnSpc>
                <a:spcPct val="60000"/>
              </a:lnSpc>
            </a:pPr>
            <a:r>
              <a:rPr lang="en-US" altLang="en-US" sz="1800" b="1" dirty="0"/>
              <a:t>5. </a:t>
            </a:r>
            <a:r>
              <a:rPr lang="en-IN" altLang="en-US" sz="1800" b="1" dirty="0"/>
              <a:t>Enhance </a:t>
            </a:r>
            <a:r>
              <a:rPr lang="en-US" altLang="en-US" sz="1800" b="1" dirty="0"/>
              <a:t>Interactive Dashboards</a:t>
            </a:r>
            <a:endParaRPr lang="en-US" altLang="en-US" sz="1800" b="1" dirty="0"/>
          </a:p>
          <a:p>
            <a:pPr>
              <a:lnSpc>
                <a:spcPct val="60000"/>
              </a:lnSpc>
            </a:pPr>
            <a:endParaRPr lang="en-US" altLang="en-US" sz="1800" dirty="0"/>
          </a:p>
          <a:p>
            <a:pPr>
              <a:lnSpc>
                <a:spcPct val="60000"/>
              </a:lnSpc>
            </a:pPr>
            <a:r>
              <a:rPr lang="en-US" altLang="en-US" sz="1800" dirty="0"/>
              <a:t>→ Visualize energy consumption, predictions, anomalies and important energy trends.</a:t>
            </a:r>
            <a:endParaRPr lang="en-US" altLang="en-US" sz="1800" dirty="0"/>
          </a:p>
          <a:p>
            <a:pPr>
              <a:lnSpc>
                <a:spcPct val="60000"/>
              </a:lnSpc>
            </a:pPr>
            <a:endParaRPr lang="en-US" altLang="en-US" sz="1800" dirty="0"/>
          </a:p>
          <a:p>
            <a:pPr>
              <a:lnSpc>
                <a:spcPct val="60000"/>
              </a:lnSpc>
            </a:pPr>
            <a:r>
              <a:rPr lang="en-US" altLang="en-US" sz="1800" b="1" dirty="0"/>
              <a:t>6. Generate Energy-Saving Recommendations</a:t>
            </a:r>
            <a:endParaRPr lang="en-US" altLang="en-US" sz="1800" b="1" dirty="0"/>
          </a:p>
          <a:p>
            <a:pPr>
              <a:lnSpc>
                <a:spcPct val="60000"/>
              </a:lnSpc>
            </a:pPr>
            <a:endParaRPr lang="en-US" altLang="en-US" sz="1800" dirty="0"/>
          </a:p>
          <a:p>
            <a:pPr>
              <a:lnSpc>
                <a:spcPct val="60000"/>
              </a:lnSpc>
            </a:pPr>
            <a:r>
              <a:rPr lang="en-US" altLang="en-US" sz="1800" dirty="0"/>
              <a:t>→ Convert analytical results into practical recommendations for reducing energy wastage.</a:t>
            </a:r>
            <a:endParaRPr lang="en-US" altLang="en-US" sz="1800" dirty="0"/>
          </a:p>
        </p:txBody>
      </p:sp>
      <p:pic>
        <p:nvPicPr>
          <p:cNvPr id="3" name="Picture 2" descr="KL University - KL University added a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1122045" cy="1126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b="1" dirty="0">
                <a:sym typeface="+mn-ea"/>
              </a:rPr>
              <a:t>Gap 1</a:t>
            </a:r>
            <a:r>
              <a:rPr lang="en-US" altLang="en-US" sz="1800" dirty="0">
                <a:sym typeface="+mn-ea"/>
              </a:rPr>
              <a:t> — Limited Focus on Actionable Energy Analytics</a:t>
            </a:r>
            <a:endParaRPr lang="en-US" altLang="en-US" sz="1800" dirty="0"/>
          </a:p>
          <a:p>
            <a:r>
              <a:rPr lang="en-US" altLang="en-US" sz="1800" dirty="0">
                <a:sym typeface="+mn-ea"/>
              </a:rPr>
              <a:t>Existing studies primarily focus on predicting energy consumption using ML and deep-learning models.</a:t>
            </a:r>
            <a:endParaRPr lang="en-US" altLang="en-US" sz="1800" dirty="0"/>
          </a:p>
          <a:p>
            <a:r>
              <a:rPr lang="en-US" altLang="en-US" sz="1800" dirty="0">
                <a:sym typeface="+mn-ea"/>
              </a:rPr>
              <a:t>Prediction alone does not explain why consumption is high or what actions can reduce it.</a:t>
            </a:r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1800" b="1" dirty="0">
                <a:sym typeface="+mn-ea"/>
              </a:rPr>
              <a:t>Gap 2</a:t>
            </a:r>
            <a:r>
              <a:rPr lang="en-US" altLang="en-US" sz="1800" dirty="0">
                <a:sym typeface="+mn-ea"/>
              </a:rPr>
              <a:t> — Limited Integration of Multiple Data Sources</a:t>
            </a:r>
            <a:endParaRPr lang="en-US" altLang="en-US" sz="1800" dirty="0"/>
          </a:p>
          <a:p>
            <a:r>
              <a:rPr lang="en-US" altLang="en-US" sz="1800" dirty="0">
                <a:sym typeface="+mn-ea"/>
              </a:rPr>
              <a:t>Energy consumption is influenced by multiple factors such as historical usage, temperature, humidity, occupancy, HVAC and lighting.</a:t>
            </a:r>
            <a:endParaRPr lang="en-US" altLang="en-US" sz="1800" dirty="0"/>
          </a:p>
          <a:p>
            <a:r>
              <a:rPr lang="en-US" altLang="en-US" sz="1800" dirty="0">
                <a:sym typeface="+mn-ea"/>
              </a:rPr>
              <a:t>Many approaches do not comprehensively integrate these heterogeneous factors for analysis.</a:t>
            </a:r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1800" b="1" dirty="0">
                <a:sym typeface="+mn-ea"/>
              </a:rPr>
              <a:t>Gap 3</a:t>
            </a:r>
            <a:r>
              <a:rPr lang="en-US" altLang="en-US" sz="1800" dirty="0">
                <a:sym typeface="+mn-ea"/>
              </a:rPr>
              <a:t> — Limited Integration of Forecasting and Anomaly Detection</a:t>
            </a:r>
            <a:endParaRPr lang="en-US" altLang="en-US" sz="1800" dirty="0"/>
          </a:p>
          <a:p>
            <a:r>
              <a:rPr lang="en-US" altLang="en-US" sz="1800" dirty="0">
                <a:sym typeface="+mn-ea"/>
              </a:rPr>
              <a:t>Energy forecasting and anomaly detection are often addressed as separate tasks.</a:t>
            </a:r>
            <a:endParaRPr lang="en-US" altLang="en-US" sz="1800" dirty="0"/>
          </a:p>
          <a:p>
            <a:r>
              <a:rPr lang="en-US" altLang="en-US" sz="1800" dirty="0">
                <a:sym typeface="+mn-ea"/>
              </a:rPr>
              <a:t>Integrating both can help identify unexpected consumption patterns and potential energy inefficiencies.</a:t>
            </a:r>
            <a:endParaRPr lang="en-US" altLang="en-US" sz="1800" dirty="0"/>
          </a:p>
          <a:p>
            <a:endParaRPr lang="en-US" altLang="en-US" sz="1800" dirty="0"/>
          </a:p>
        </p:txBody>
      </p:sp>
      <p:pic>
        <p:nvPicPr>
          <p:cNvPr id="3" name="Picture 2" descr="KL University - KL University added a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2" y="76200"/>
            <a:ext cx="1042063" cy="1046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371601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b="1" dirty="0"/>
              <a:t>Gap 4 </a:t>
            </a:r>
            <a:r>
              <a:rPr lang="en-US" altLang="en-US" sz="1800" dirty="0"/>
              <a:t>— Lack of Interpretability in Complex Models</a:t>
            </a:r>
            <a:endParaRPr lang="en-US" altLang="en-US" sz="1800" dirty="0"/>
          </a:p>
          <a:p>
            <a:endParaRPr lang="en-US" altLang="en-US" sz="1800" dirty="0"/>
          </a:p>
          <a:p>
            <a:r>
              <a:rPr lang="en-US" altLang="en-US" sz="1800" dirty="0"/>
              <a:t>Advanced ML and deep-learning models can achieve high predictive performance but may be difficult for non-technical building managers to interpret.</a:t>
            </a:r>
            <a:endParaRPr lang="en-US" altLang="en-US" sz="1800" dirty="0"/>
          </a:p>
          <a:p>
            <a:r>
              <a:rPr lang="en-US" altLang="en-US" sz="1800" dirty="0"/>
              <a:t>There is a need for more explainable energy analytics.</a:t>
            </a:r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1800" b="1" dirty="0"/>
              <a:t>Gap 5 </a:t>
            </a:r>
            <a:r>
              <a:rPr lang="en-US" altLang="en-US" sz="1800" dirty="0"/>
              <a:t>— Limited User-Friendly Decision Support</a:t>
            </a:r>
            <a:endParaRPr lang="en-US" altLang="en-US" sz="1800" dirty="0"/>
          </a:p>
          <a:p>
            <a:endParaRPr lang="en-US" altLang="en-US" sz="1800" dirty="0"/>
          </a:p>
          <a:p>
            <a:r>
              <a:rPr lang="en-US" altLang="en-US" sz="1800" dirty="0"/>
              <a:t>Many existing solutions emphasize model performance rather than easy-to-understand insights and actionable recommendations.</a:t>
            </a:r>
            <a:endParaRPr lang="en-US" altLang="en-US" sz="1800" dirty="0"/>
          </a:p>
          <a:p>
            <a:r>
              <a:rPr lang="en-US" altLang="en-US" sz="1800" dirty="0"/>
              <a:t>A user-friendly analytics dashboard can help building managers understand consumption patterns and make informed decisions.</a:t>
            </a:r>
            <a:endParaRPr lang="en-US" altLang="en-US" sz="1800" dirty="0"/>
          </a:p>
        </p:txBody>
      </p:sp>
      <p:pic>
        <p:nvPicPr>
          <p:cNvPr id="3" name="Picture 2" descr="KL University - KL University added a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2" y="76200"/>
            <a:ext cx="1042063" cy="1046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905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L University - KL University added a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985"/>
            <a:ext cx="880745" cy="8845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28600" y="987425"/>
            <a:ext cx="8917940" cy="37179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b="1" dirty="0"/>
              <a:t>1. </a:t>
            </a:r>
            <a:r>
              <a:rPr lang="en-US" altLang="en-US" sz="2000" b="1" dirty="0"/>
              <a:t>Dual Intelligence</a:t>
            </a:r>
            <a:endParaRPr lang="en-US" altLang="en-US" sz="2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The system performs both:</a:t>
            </a:r>
            <a:endParaRPr lang="en-US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Energy Prediction + Anomaly Detection</a:t>
            </a:r>
            <a:endParaRPr lang="en-US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rather than focusing on only one.</a:t>
            </a:r>
            <a:endParaRPr lang="en-US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b="1" dirty="0"/>
              <a:t>2. Energy Recommendation Engine</a:t>
            </a:r>
            <a:endParaRPr lang="en-US" altLang="en-US" sz="2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The system converts ML results into recommendations such as:</a:t>
            </a:r>
            <a:endParaRPr lang="en-US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Reduce unnecessary appliance usage</a:t>
            </a:r>
            <a:endParaRPr lang="en-US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Identify unusual energy consumption</a:t>
            </a:r>
            <a:endParaRPr lang="en-US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Optimize high-consumption periods</a:t>
            </a:r>
            <a:endParaRPr lang="en-US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Identify inefficient usage patterns</a:t>
            </a:r>
            <a:endParaRPr lang="en-US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b="1" dirty="0"/>
              <a:t>3. End-to-End Framework</a:t>
            </a:r>
            <a:endParaRPr lang="en-US" altLang="en-US" sz="2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Integrates:</a:t>
            </a:r>
            <a:endParaRPr lang="en-US" alt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000" dirty="0"/>
              <a:t>Data Engineering → Analytics → ML → Database → Dashboard → Recommendations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0795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Feasibility of the Project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1066800"/>
            <a:ext cx="10434955" cy="452628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IN" altLang="en-US" sz="7200" b="1" dirty="0"/>
              <a:t>1.</a:t>
            </a:r>
            <a:r>
              <a:rPr lang="en-US" altLang="en-US" sz="7200" b="1" dirty="0"/>
              <a:t>The project can be developed using:</a:t>
            </a:r>
            <a:endParaRPr lang="en-US" altLang="en-US" sz="7200" b="1" dirty="0"/>
          </a:p>
          <a:p>
            <a:r>
              <a:rPr lang="en-US" altLang="en-US" sz="7200" dirty="0"/>
              <a:t>Python</a:t>
            </a:r>
            <a:endParaRPr lang="en-US" altLang="en-US" sz="7200" dirty="0"/>
          </a:p>
          <a:p>
            <a:r>
              <a:rPr lang="en-US" altLang="en-US" sz="7200" dirty="0"/>
              <a:t>Pandas</a:t>
            </a:r>
            <a:endParaRPr lang="en-US" altLang="en-US" sz="7200" dirty="0"/>
          </a:p>
          <a:p>
            <a:r>
              <a:rPr lang="en-US" altLang="en-US" sz="7200" dirty="0"/>
              <a:t>NumPy</a:t>
            </a:r>
            <a:endParaRPr lang="en-US" altLang="en-US" sz="7200" dirty="0"/>
          </a:p>
          <a:p>
            <a:r>
              <a:rPr lang="en-US" altLang="en-US" sz="7200" dirty="0"/>
              <a:t>Matplotlib</a:t>
            </a:r>
            <a:endParaRPr lang="en-US" altLang="en-US" sz="7200" dirty="0"/>
          </a:p>
          <a:p>
            <a:r>
              <a:rPr lang="en-US" altLang="en-US" sz="7200" dirty="0"/>
              <a:t>Seaborn</a:t>
            </a:r>
            <a:endParaRPr lang="en-US" altLang="en-US" sz="7200" dirty="0"/>
          </a:p>
          <a:p>
            <a:r>
              <a:rPr lang="en-US" altLang="en-US" sz="7200" dirty="0"/>
              <a:t>Scikit-learn</a:t>
            </a:r>
            <a:endParaRPr lang="en-US" altLang="en-US" sz="7200" dirty="0"/>
          </a:p>
          <a:p>
            <a:r>
              <a:rPr lang="en-US" altLang="en-US" sz="7200" dirty="0"/>
              <a:t>SQL/MySQL</a:t>
            </a:r>
            <a:endParaRPr lang="en-US" altLang="en-US" sz="7200" dirty="0"/>
          </a:p>
          <a:p>
            <a:r>
              <a:rPr lang="en-US" altLang="en-US" sz="7200" dirty="0"/>
              <a:t>Power BI</a:t>
            </a:r>
            <a:endParaRPr lang="en-US" altLang="en-US" sz="7200" dirty="0"/>
          </a:p>
          <a:p>
            <a:r>
              <a:rPr lang="en-US" altLang="en-US" sz="7200" dirty="0"/>
              <a:t>Streamlit or similar web technologies</a:t>
            </a:r>
            <a:endParaRPr lang="en-US" altLang="en-US" sz="7200" dirty="0"/>
          </a:p>
          <a:p>
            <a:r>
              <a:rPr lang="en-US" altLang="en-US" sz="7200" dirty="0"/>
              <a:t>Energy datasets provide variables required for consumption analysis and prediction.</a:t>
            </a:r>
            <a:endParaRPr lang="en-US" altLang="en-US" sz="7200" dirty="0"/>
          </a:p>
          <a:p>
            <a:pPr marL="0" indent="0">
              <a:buNone/>
            </a:pPr>
            <a:r>
              <a:rPr lang="en-US" altLang="en-US" sz="7200" b="1" dirty="0"/>
              <a:t>2. Economic Feasibility</a:t>
            </a:r>
            <a:endParaRPr lang="en-US" altLang="en-US" sz="7200" b="1" dirty="0"/>
          </a:p>
          <a:p>
            <a:r>
              <a:rPr lang="en-US" altLang="en-US" sz="7200" dirty="0"/>
              <a:t>Most tools are free/open source.</a:t>
            </a:r>
            <a:endParaRPr lang="en-US" altLang="en-US" sz="7200" dirty="0"/>
          </a:p>
          <a:p>
            <a:r>
              <a:rPr lang="en-US" altLang="en-US" sz="7200" dirty="0"/>
              <a:t>Public benchmark datasets can be used.</a:t>
            </a:r>
            <a:endParaRPr lang="en-US" altLang="en-US" sz="7200" dirty="0"/>
          </a:p>
          <a:p>
            <a:r>
              <a:rPr lang="en-US" altLang="en-US" sz="7200" dirty="0"/>
              <a:t>No specialized hardware is required for the initial implementation.</a:t>
            </a:r>
            <a:endParaRPr lang="en-US" altLang="en-US" sz="7200" dirty="0"/>
          </a:p>
          <a:p>
            <a:r>
              <a:rPr lang="en-US" altLang="en-US" sz="7200" dirty="0"/>
              <a:t>Development can be performed using existing computers.</a:t>
            </a:r>
            <a:endParaRPr lang="en-US" altLang="en-US" sz="7200" dirty="0"/>
          </a:p>
        </p:txBody>
      </p:sp>
      <p:pic>
        <p:nvPicPr>
          <p:cNvPr id="6" name="Picture 5" descr="KL University - KL University added a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7890" cy="9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Feasibility of the Project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71600"/>
            <a:ext cx="7557135" cy="45262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b="1" dirty="0">
                <a:sym typeface="+mn-ea"/>
              </a:rPr>
              <a:t>3. Operational Feasibility</a:t>
            </a:r>
            <a:endParaRPr lang="en-US" altLang="en-US" sz="1800" b="1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The dashboard can provide: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Energy consumption trends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Prediction results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Anomaly alerts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Energy insights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Recommendations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This makes the output understandable even to non-technical users.</a:t>
            </a:r>
            <a:endParaRPr lang="en-US" altLang="en-US" sz="1800" dirty="0">
              <a:sym typeface="+mn-ea"/>
            </a:endParaRP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b="1" dirty="0">
                <a:sym typeface="+mn-ea"/>
              </a:rPr>
              <a:t>4. Schedule Feasibility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The project can be developed progressively:</a:t>
            </a:r>
            <a:endParaRPr lang="en-US" altLang="en-US" sz="1800" dirty="0">
              <a:sym typeface="+mn-ea"/>
            </a:endParaRP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>
                <a:sym typeface="+mn-ea"/>
              </a:rPr>
              <a:t>Data Collection → Preprocessing → EDA → Feature Engineering → ML → Anomaly Detection → Database → Dashboard → Recommendations → Testing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</p:txBody>
      </p:sp>
      <p:pic>
        <p:nvPicPr>
          <p:cNvPr id="6" name="Picture 5" descr="KL University - KL University added a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1134110" cy="1138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76201"/>
            <a:ext cx="5638800" cy="609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Project Plan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_- visual selection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41045"/>
            <a:ext cx="9144000" cy="61391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19821540"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6598</Words>
  <Application>WPS Presentation</Application>
  <PresentationFormat>On-screen Show (4:3)</PresentationFormat>
  <Paragraphs>198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Aptos</vt:lpstr>
      <vt:lpstr>Segoe UI</vt:lpstr>
      <vt:lpstr>Wingdings</vt:lpstr>
      <vt:lpstr>Microsoft YaHei</vt:lpstr>
      <vt:lpstr>Arial Unicode MS</vt:lpstr>
      <vt:lpstr>Calibri</vt:lpstr>
      <vt:lpstr>Office Theme</vt:lpstr>
      <vt:lpstr>  A Project Review     Project title: Intelligent Energy Consumption Analytics for Smart Buildings</vt:lpstr>
      <vt:lpstr>Outline of the presentation</vt:lpstr>
      <vt:lpstr>Problem Statement </vt:lpstr>
      <vt:lpstr>Abstract</vt:lpstr>
      <vt:lpstr>Project flow diagram</vt:lpstr>
      <vt:lpstr>Literature Survey</vt:lpstr>
      <vt:lpstr>Literature Survey</vt:lpstr>
      <vt:lpstr>Objectives with justification </vt:lpstr>
      <vt:lpstr>Research gaps </vt:lpstr>
      <vt:lpstr>Research gaps </vt:lpstr>
      <vt:lpstr>Novelty</vt:lpstr>
      <vt:lpstr>Feasibility of the Project</vt:lpstr>
      <vt:lpstr>Feasibility of the Project</vt:lpstr>
      <vt:lpstr>Project Plan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HARINI</cp:lastModifiedBy>
  <cp:revision>196</cp:revision>
  <dcterms:created xsi:type="dcterms:W3CDTF">2006-08-16T00:00:00Z</dcterms:created>
  <dcterms:modified xsi:type="dcterms:W3CDTF">2026-08-13T07:00:32Z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2800CD85571D4CF996B439A170A5FC73_13</vt:lpwstr>
  </property>
</Properties>
</file>